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55279" y="594360"/>
            <a:ext cx="3611880" cy="5440680"/>
          </a:xfrm>
          <a:prstGeom prst="roundRect">
            <a:avLst>
              <a:gd name="adj" fmla="val 12000"/>
            </a:avLst>
          </a:prstGeom>
          <a:solidFill>
            <a:srgbClr val="131D31"/>
          </a:solidFill>
          <a:ln w="1397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960120"/>
            <a:ext cx="2126480" cy="224677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dirty="0" err="1">
                <a:solidFill>
                  <a:srgbClr val="34D3EB"/>
                </a:solidFill>
                <a:latin typeface="Aptos"/>
              </a:rPr>
              <a:t>Hacktoberfest</a:t>
            </a:r>
            <a:r>
              <a:rPr lang="en-US" sz="1100" b="1" dirty="0">
                <a:solidFill>
                  <a:srgbClr val="34D3EB"/>
                </a:solidFill>
                <a:latin typeface="Aptos"/>
              </a:rPr>
              <a:t> Hack Day Raleigh</a:t>
            </a:r>
            <a:endParaRPr sz="1100" b="1" dirty="0">
              <a:solidFill>
                <a:srgbClr val="34D3E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1481328"/>
            <a:ext cx="6400800" cy="9144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>
                <a:solidFill>
                  <a:srgbClr val="F1F5F9"/>
                </a:solidFill>
                <a:latin typeface="Aptos"/>
              </a:rPr>
              <a:t>RoboUI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578608"/>
            <a:ext cx="6492240" cy="10515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>
                <a:solidFill>
                  <a:srgbClr val="A4B3C9"/>
                </a:solidFill>
                <a:latin typeface="Aptos"/>
              </a:rPr>
              <a:t>From hand-drawn layout
to browser-ready HTML.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86384" y="4069080"/>
            <a:ext cx="4059936" cy="0"/>
          </a:xfrm>
          <a:prstGeom prst="line">
            <a:avLst/>
          </a:prstGeom>
          <a:ln w="31750">
            <a:solidFill>
              <a:srgbClr val="34D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86384" y="4370832"/>
            <a:ext cx="6309360" cy="8229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1F5F9"/>
                </a:solidFill>
                <a:latin typeface="Aptos"/>
              </a:rPr>
              <a:t>A visual-to-code prototype that helps ideas
move from paper to a developer-ready starting point.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5577840"/>
            <a:ext cx="1051560" cy="310896"/>
          </a:xfrm>
          <a:prstGeom prst="roundRect">
            <a:avLst>
              <a:gd name="adj" fmla="val 12000"/>
            </a:avLst>
          </a:prstGeom>
          <a:solidFill>
            <a:srgbClr val="18263E"/>
          </a:solidFill>
          <a:ln w="1016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5618988"/>
            <a:ext cx="941831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34D3EB"/>
                </a:solidFill>
                <a:latin typeface="Aptos"/>
              </a:rPr>
              <a:t>PYTHON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38528" y="5577840"/>
            <a:ext cx="1325880" cy="310896"/>
          </a:xfrm>
          <a:prstGeom prst="roundRect">
            <a:avLst>
              <a:gd name="adj" fmla="val 12000"/>
            </a:avLst>
          </a:prstGeom>
          <a:solidFill>
            <a:srgbClr val="18263E"/>
          </a:solidFill>
          <a:ln w="1016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93392" y="5618988"/>
            <a:ext cx="1216152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34D3EB"/>
                </a:solidFill>
                <a:latin typeface="Aptos"/>
              </a:rPr>
              <a:t>LANGCHAIN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5577840"/>
            <a:ext cx="1051560" cy="310896"/>
          </a:xfrm>
          <a:prstGeom prst="roundRect">
            <a:avLst>
              <a:gd name="adj" fmla="val 12000"/>
            </a:avLst>
          </a:prstGeom>
          <a:solidFill>
            <a:srgbClr val="18263E"/>
          </a:solidFill>
          <a:ln w="1016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5618988"/>
            <a:ext cx="941831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34D3EB"/>
                </a:solidFill>
                <a:latin typeface="Aptos"/>
              </a:rPr>
              <a:t>OLLAMA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5577840"/>
            <a:ext cx="1143000" cy="310896"/>
          </a:xfrm>
          <a:prstGeom prst="roundRect">
            <a:avLst>
              <a:gd name="adj" fmla="val 12000"/>
            </a:avLst>
          </a:prstGeom>
          <a:solidFill>
            <a:srgbClr val="18263E"/>
          </a:solidFill>
          <a:ln w="1016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81144" y="5618988"/>
            <a:ext cx="1033271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34D3EB"/>
                </a:solidFill>
                <a:latin typeface="Aptos"/>
              </a:rPr>
              <a:t>GEMMA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914400"/>
            <a:ext cx="10058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4D3EB"/>
                </a:solidFill>
                <a:latin typeface="Aptos"/>
              </a:rPr>
              <a:t>INPUT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261872"/>
            <a:ext cx="2907792" cy="1234440"/>
          </a:xfrm>
          <a:prstGeom prst="roundRect">
            <a:avLst>
              <a:gd name="adj" fmla="val 12000"/>
            </a:avLst>
          </a:prstGeom>
          <a:solidFill>
            <a:srgbClr val="F5F1E6"/>
          </a:solidFill>
          <a:ln w="13970">
            <a:solidFill>
              <a:srgbClr val="F5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8577072" y="1572768"/>
            <a:ext cx="2258568" cy="0"/>
          </a:xfrm>
          <a:prstGeom prst="line">
            <a:avLst/>
          </a:prstGeom>
          <a:ln w="12700">
            <a:solidFill>
              <a:srgbClr val="737D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577072" y="1737360"/>
            <a:ext cx="822960" cy="530352"/>
          </a:xfrm>
          <a:prstGeom prst="rect">
            <a:avLst/>
          </a:prstGeom>
          <a:solidFill>
            <a:srgbClr val="E1E6EB"/>
          </a:solidFill>
          <a:ln w="10160">
            <a:solidFill>
              <a:srgbClr val="87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555480" y="1737360"/>
            <a:ext cx="1280160" cy="201168"/>
          </a:xfrm>
          <a:prstGeom prst="rect">
            <a:avLst/>
          </a:prstGeom>
          <a:solidFill>
            <a:srgbClr val="E1E6EB"/>
          </a:solidFill>
          <a:ln w="10160">
            <a:solidFill>
              <a:srgbClr val="87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555480" y="2048256"/>
            <a:ext cx="1051560" cy="201168"/>
          </a:xfrm>
          <a:prstGeom prst="rect">
            <a:avLst/>
          </a:prstGeom>
          <a:solidFill>
            <a:srgbClr val="E1E6EB"/>
          </a:solidFill>
          <a:ln w="10160">
            <a:solidFill>
              <a:srgbClr val="87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8577072" y="2359152"/>
            <a:ext cx="2258568" cy="0"/>
          </a:xfrm>
          <a:prstGeom prst="line">
            <a:avLst/>
          </a:prstGeom>
          <a:ln w="10160">
            <a:solidFill>
              <a:srgbClr val="87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473184" y="2651760"/>
            <a:ext cx="457200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34D3EB"/>
                </a:solidFill>
                <a:latin typeface="Aptos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127248"/>
            <a:ext cx="27432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A4B3C9"/>
                </a:solidFill>
                <a:latin typeface="Aptos"/>
              </a:rPr>
              <a:t>AI-ASSISTED GENERATION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493008"/>
            <a:ext cx="2907792" cy="17830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397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458200" y="3675887"/>
            <a:ext cx="2542032" cy="228600"/>
          </a:xfrm>
          <a:prstGeom prst="rect">
            <a:avLst/>
          </a:prstGeom>
          <a:solidFill>
            <a:srgbClr val="E1E7F0"/>
          </a:solidFill>
          <a:ln w="13970"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577072" y="3749039"/>
            <a:ext cx="64008" cy="64008"/>
          </a:xfrm>
          <a:prstGeom prst="ellipse">
            <a:avLst/>
          </a:prstGeom>
          <a:solidFill>
            <a:srgbClr val="53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714232" y="3749039"/>
            <a:ext cx="64008" cy="64008"/>
          </a:xfrm>
          <a:prstGeom prst="ellipse">
            <a:avLst/>
          </a:prstGeom>
          <a:solidFill>
            <a:srgbClr val="53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51392" y="3749039"/>
            <a:ext cx="64008" cy="64008"/>
          </a:xfrm>
          <a:prstGeom prst="ellipse">
            <a:avLst/>
          </a:prstGeom>
          <a:solidFill>
            <a:srgbClr val="53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595360" y="4096512"/>
            <a:ext cx="713232" cy="777240"/>
          </a:xfrm>
          <a:prstGeom prst="rect">
            <a:avLst/>
          </a:prstGeom>
          <a:solidFill>
            <a:srgbClr val="DCE8F6"/>
          </a:solidFill>
          <a:ln w="762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436608" y="4114800"/>
            <a:ext cx="1325880" cy="146304"/>
          </a:xfrm>
          <a:prstGeom prst="rect">
            <a:avLst/>
          </a:prstGeom>
          <a:solidFill>
            <a:srgbClr val="C3CFE0"/>
          </a:solidFill>
          <a:ln w="6350">
            <a:solidFill>
              <a:srgbClr val="C3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436608" y="4370832"/>
            <a:ext cx="1115568" cy="109728"/>
          </a:xfrm>
          <a:prstGeom prst="rect">
            <a:avLst/>
          </a:prstGeom>
          <a:solidFill>
            <a:srgbClr val="D7E0EC"/>
          </a:solidFill>
          <a:ln w="6350">
            <a:solidFill>
              <a:srgbClr val="D7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436608" y="4681728"/>
            <a:ext cx="640080" cy="182880"/>
          </a:xfrm>
          <a:prstGeom prst="roundRect">
            <a:avLst>
              <a:gd name="adj" fmla="val 12000"/>
            </a:avLst>
          </a:prstGeom>
          <a:solidFill>
            <a:srgbClr val="5384FF"/>
          </a:solidFill>
          <a:ln w="6350">
            <a:solidFill>
              <a:srgbClr val="53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5486400"/>
            <a:ext cx="2907792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5BDCAA"/>
                </a:solidFill>
                <a:latin typeface="Aptos"/>
              </a:rPr>
              <a:t>LOCAL PREVIEW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6144768"/>
            <a:ext cx="3150799" cy="2092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dirty="0">
                <a:solidFill>
                  <a:srgbClr val="A4B3C9"/>
                </a:solidFill>
                <a:latin typeface="Aptos"/>
              </a:rPr>
              <a:t>Team: [Team name]   •   </a:t>
            </a:r>
            <a:r>
              <a:rPr lang="en-US" sz="1000" b="0" dirty="0" err="1">
                <a:solidFill>
                  <a:srgbClr val="A4B3C9"/>
                </a:solidFill>
                <a:latin typeface="Aptos"/>
              </a:rPr>
              <a:t>Hacktober</a:t>
            </a:r>
            <a:r>
              <a:rPr lang="en-US" sz="1000" dirty="0" err="1">
                <a:solidFill>
                  <a:srgbClr val="A4B3C9"/>
                </a:solidFill>
                <a:latin typeface="Aptos"/>
              </a:rPr>
              <a:t>fest</a:t>
            </a:r>
            <a:r>
              <a:rPr lang="en-US" sz="1000" dirty="0">
                <a:solidFill>
                  <a:srgbClr val="A4B3C9"/>
                </a:solidFill>
                <a:latin typeface="Aptos"/>
              </a:rPr>
              <a:t> Hack Day Raleigh</a:t>
            </a:r>
            <a:endParaRPr sz="1000" b="0" dirty="0">
              <a:solidFill>
                <a:srgbClr val="A4B3C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4864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D3EB"/>
                </a:solidFill>
                <a:latin typeface="Aptos"/>
              </a:rPr>
              <a:t>01 / TECHNICAL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1F5F9"/>
                </a:solidFill>
                <a:latin typeface="Aptos"/>
              </a:rPr>
              <a:t>The stack behind RoboUI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7899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A4B3C9"/>
                </a:solidFill>
                <a:latin typeface="Aptos"/>
              </a:rPr>
              <a:t>A Python-based pipeline uses a locally served vision-language model to interpret a sketch and produce an HTML preview.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4B3C9"/>
                </a:solidFill>
                <a:latin typeface="Aptos"/>
              </a:rPr>
              <a:t>ROBOUI  /  HACKATHON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114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4B3C9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40280"/>
            <a:ext cx="2212848" cy="2148840"/>
          </a:xfrm>
          <a:prstGeom prst="roundRect">
            <a:avLst>
              <a:gd name="adj" fmla="val 12000"/>
            </a:avLst>
          </a:prstGeom>
          <a:solidFill>
            <a:srgbClr val="131D31"/>
          </a:solidFill>
          <a:ln w="1397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2441448"/>
            <a:ext cx="384048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D3E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16352"/>
            <a:ext cx="1874519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1F5F9"/>
                </a:solidFill>
                <a:latin typeface="Aptos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218688"/>
            <a:ext cx="1874519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EB"/>
                </a:solidFill>
                <a:latin typeface="Aptos"/>
              </a:rPr>
              <a:t>Application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84448"/>
            <a:ext cx="1874519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3C9"/>
                </a:solidFill>
                <a:latin typeface="Aptos"/>
              </a:rPr>
              <a:t>Coordinates input,
generation, and preview.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7" y="3127248"/>
            <a:ext cx="41148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34D3EB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7872" y="2240280"/>
            <a:ext cx="2212848" cy="2148840"/>
          </a:xfrm>
          <a:prstGeom prst="roundRect">
            <a:avLst>
              <a:gd name="adj" fmla="val 12000"/>
            </a:avLst>
          </a:prstGeom>
          <a:solidFill>
            <a:srgbClr val="131D31"/>
          </a:solidFill>
          <a:ln w="1397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12463" y="2441448"/>
            <a:ext cx="384048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384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3" y="2816352"/>
            <a:ext cx="1874519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1F5F9"/>
                </a:solidFill>
                <a:latin typeface="Aptos"/>
              </a:rPr>
              <a:t>LANGCHAIN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3" y="3218688"/>
            <a:ext cx="1874519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384FF"/>
                </a:solidFill>
                <a:latin typeface="Aptos"/>
              </a:rPr>
              <a:t>Model orchestration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2463" y="3584448"/>
            <a:ext cx="1874519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3C9"/>
                </a:solidFill>
                <a:latin typeface="Aptos"/>
              </a:rPr>
              <a:t>Connects the application
to the model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3127248"/>
            <a:ext cx="41148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34D3EB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37376" y="2240280"/>
            <a:ext cx="2212848" cy="2148840"/>
          </a:xfrm>
          <a:prstGeom prst="roundRect">
            <a:avLst>
              <a:gd name="adj" fmla="val 12000"/>
            </a:avLst>
          </a:prstGeom>
          <a:solidFill>
            <a:srgbClr val="131D31"/>
          </a:solidFill>
          <a:ln w="1397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01968" y="2441448"/>
            <a:ext cx="384048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BDCAA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816352"/>
            <a:ext cx="1874519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1F5F9"/>
                </a:solidFill>
                <a:latin typeface="Aptos"/>
              </a:rPr>
              <a:t>OLLAMA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218688"/>
            <a:ext cx="1874519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BDCAA"/>
                </a:solidFill>
                <a:latin typeface="Aptos"/>
              </a:rPr>
              <a:t>Local model 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584448"/>
            <a:ext cx="1874519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3C9"/>
                </a:solidFill>
                <a:latin typeface="Aptos"/>
              </a:rPr>
              <a:t>Runs and serves the
model locally.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9096" y="3127248"/>
            <a:ext cx="41148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34D3EB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2240280"/>
            <a:ext cx="2212848" cy="2148840"/>
          </a:xfrm>
          <a:prstGeom prst="roundRect">
            <a:avLst>
              <a:gd name="adj" fmla="val 12000"/>
            </a:avLst>
          </a:prstGeom>
          <a:solidFill>
            <a:srgbClr val="131D31"/>
          </a:solidFill>
          <a:ln w="1397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91472" y="2441448"/>
            <a:ext cx="384048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B454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1472" y="2816352"/>
            <a:ext cx="1874519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1F5F9"/>
                </a:solidFill>
                <a:latin typeface="Aptos"/>
              </a:rPr>
              <a:t>GEMMA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1472" y="3218688"/>
            <a:ext cx="1874519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B454"/>
                </a:solidFill>
                <a:latin typeface="Aptos"/>
              </a:rPr>
              <a:t>AI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91472" y="3584448"/>
            <a:ext cx="1874519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3C9"/>
                </a:solidFill>
                <a:latin typeface="Aptos"/>
              </a:rPr>
              <a:t>Interprets the uploaded
layout and generates output.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00600"/>
            <a:ext cx="10881360" cy="822960"/>
          </a:xfrm>
          <a:prstGeom prst="roundRect">
            <a:avLst>
              <a:gd name="adj" fmla="val 12000"/>
            </a:avLst>
          </a:prstGeom>
          <a:solidFill>
            <a:srgbClr val="18263E"/>
          </a:solidFill>
          <a:ln w="1397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010912"/>
            <a:ext cx="15544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D3EB"/>
                </a:solidFill>
                <a:latin typeface="Aptos"/>
              </a:rPr>
              <a:t>WHY THIS STACK?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4956048"/>
            <a:ext cx="8294459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F1F5F9"/>
                </a:solidFill>
                <a:latin typeface="Aptos"/>
              </a:rPr>
              <a:t>The prototype keeps model execution local through Ollama, while </a:t>
            </a:r>
            <a:r>
              <a:rPr sz="1300" b="0" dirty="0" err="1">
                <a:solidFill>
                  <a:srgbClr val="F1F5F9"/>
                </a:solidFill>
                <a:latin typeface="Aptos"/>
              </a:rPr>
              <a:t>LangChain</a:t>
            </a:r>
            <a:r>
              <a:rPr sz="1300" b="0" dirty="0">
                <a:solidFill>
                  <a:srgbClr val="F1F5F9"/>
                </a:solidFill>
                <a:latin typeface="Aptos"/>
              </a:rPr>
              <a:t> helps connect model interactions to the Python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4864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D3EB"/>
                </a:solidFill>
                <a:latin typeface="Aptos"/>
              </a:rPr>
              <a:t>02 / PROCESSING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1F5F9"/>
                </a:solidFill>
                <a:latin typeface="Aptos"/>
              </a:rPr>
              <a:t>From sketch to local HTML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7899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4B3C9"/>
                </a:solidFill>
                <a:latin typeface="Aptos"/>
              </a:rPr>
              <a:t>The current end-to-end experience, based on the prototype workflow.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4B3C9"/>
                </a:solidFill>
                <a:latin typeface="Aptos"/>
              </a:rPr>
              <a:t>ROBOUI  /  HACKATHON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114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4B3C9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377440"/>
            <a:ext cx="2148840" cy="1828800"/>
          </a:xfrm>
          <a:prstGeom prst="roundRect">
            <a:avLst>
              <a:gd name="adj" fmla="val 12000"/>
            </a:avLst>
          </a:prstGeom>
          <a:solidFill>
            <a:srgbClr val="131D31"/>
          </a:solidFill>
          <a:ln w="1397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438912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E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62656"/>
            <a:ext cx="178308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1F5F9"/>
                </a:solidFill>
                <a:latin typeface="Aptos"/>
              </a:rPr>
              <a:t>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01568"/>
            <a:ext cx="17830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3C9"/>
                </a:solidFill>
                <a:latin typeface="Aptos"/>
              </a:rPr>
              <a:t>User provides a
hand-drawn layout.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090672"/>
            <a:ext cx="475488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34D3EB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84448" y="2377440"/>
            <a:ext cx="2148840" cy="1828800"/>
          </a:xfrm>
          <a:prstGeom prst="roundRect">
            <a:avLst>
              <a:gd name="adj" fmla="val 12000"/>
            </a:avLst>
          </a:prstGeom>
          <a:solidFill>
            <a:srgbClr val="131D31"/>
          </a:solidFill>
          <a:ln w="1397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39" y="2578608"/>
            <a:ext cx="438912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384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962656"/>
            <a:ext cx="178308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1F5F9"/>
                </a:solidFill>
                <a:latin typeface="Aptos"/>
              </a:rPr>
              <a:t>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401568"/>
            <a:ext cx="17830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3C9"/>
                </a:solidFill>
                <a:latin typeface="Aptos"/>
              </a:rPr>
              <a:t>Gemma 4 interprets
the visual structure.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090672"/>
            <a:ext cx="475488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34D3EB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9088" y="2377440"/>
            <a:ext cx="2148840" cy="1828800"/>
          </a:xfrm>
          <a:prstGeom prst="roundRect">
            <a:avLst>
              <a:gd name="adj" fmla="val 12000"/>
            </a:avLst>
          </a:prstGeom>
          <a:solidFill>
            <a:srgbClr val="131D31"/>
          </a:solidFill>
          <a:ln w="1397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79" y="2578608"/>
            <a:ext cx="438912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BDCAA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2962656"/>
            <a:ext cx="178308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1F5F9"/>
                </a:solidFill>
                <a:latin typeface="Aptos"/>
              </a:rPr>
              <a:t>GENERATE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3401568"/>
            <a:ext cx="17830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3C9"/>
                </a:solidFill>
                <a:latin typeface="Aptos"/>
              </a:rPr>
              <a:t>The model produces
HTML markup.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090672"/>
            <a:ext cx="475488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34D3E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2377440"/>
            <a:ext cx="2148840" cy="1828800"/>
          </a:xfrm>
          <a:prstGeom prst="roundRect">
            <a:avLst>
              <a:gd name="adj" fmla="val 12000"/>
            </a:avLst>
          </a:prstGeom>
          <a:solidFill>
            <a:srgbClr val="131D31"/>
          </a:solidFill>
          <a:ln w="1397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19" y="2578608"/>
            <a:ext cx="438912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B454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2962656"/>
            <a:ext cx="178308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1F5F9"/>
                </a:solidFill>
                <a:latin typeface="Aptos"/>
              </a:rPr>
              <a:t>PREVIEW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3401568"/>
            <a:ext cx="178308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3C9"/>
                </a:solidFill>
                <a:latin typeface="Aptos"/>
              </a:rPr>
              <a:t>The generated page
runs on localhost.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681728"/>
            <a:ext cx="10652760" cy="804672"/>
          </a:xfrm>
          <a:prstGeom prst="roundRect">
            <a:avLst>
              <a:gd name="adj" fmla="val 12000"/>
            </a:avLst>
          </a:prstGeom>
          <a:solidFill>
            <a:srgbClr val="18263E"/>
          </a:solidFill>
          <a:ln w="1397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4937760"/>
            <a:ext cx="16002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D3EB"/>
                </a:solidFill>
                <a:latin typeface="Aptos"/>
              </a:rPr>
              <a:t>CURRENT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855464"/>
            <a:ext cx="8412480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F1F5F9"/>
                </a:solidFill>
                <a:latin typeface="Aptos"/>
              </a:rPr>
              <a:t>A basic wireframe made from text elements, image placeholders, and buttons — rendered for review in a local browser.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4864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D3EB"/>
                </a:solidFill>
                <a:latin typeface="Aptos"/>
              </a:rPr>
              <a:t>03 / PRODUCT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1F5F9"/>
                </a:solidFill>
                <a:latin typeface="Aptos"/>
              </a:rPr>
              <a:t>Inside the RoboUI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7899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4B3C9"/>
                </a:solidFill>
                <a:latin typeface="Aptos"/>
              </a:rPr>
              <a:t>Replace these panels with screenshots from your working prototype.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4B3C9"/>
                </a:solidFill>
                <a:latin typeface="Aptos"/>
              </a:rPr>
              <a:t>ROBOUI  /  HACKATHON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114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4B3C9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65960"/>
            <a:ext cx="5230368" cy="3520440"/>
          </a:xfrm>
          <a:prstGeom prst="roundRect">
            <a:avLst>
              <a:gd name="adj" fmla="val 12000"/>
            </a:avLst>
          </a:prstGeom>
          <a:solidFill>
            <a:srgbClr val="131D31"/>
          </a:solidFill>
          <a:ln w="1397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475488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EB"/>
                </a:solidFill>
                <a:latin typeface="Aptos"/>
              </a:rPr>
              <a:t>01  /  INPUT EXPERIENCE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615184"/>
            <a:ext cx="4828032" cy="2331720"/>
          </a:xfrm>
          <a:prstGeom prst="rect">
            <a:avLst/>
          </a:prstGeom>
          <a:solidFill>
            <a:srgbClr val="0D1524"/>
          </a:solidFill>
          <a:ln w="12700">
            <a:solidFill>
              <a:srgbClr val="47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2724912" y="3429000"/>
            <a:ext cx="1207008" cy="0"/>
          </a:xfrm>
          <a:prstGeom prst="line">
            <a:avLst/>
          </a:prstGeom>
          <a:ln w="1270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328415" y="2834640"/>
            <a:ext cx="0" cy="1207008"/>
          </a:xfrm>
          <a:prstGeom prst="line">
            <a:avLst/>
          </a:prstGeom>
          <a:ln w="1270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039112" y="3493008"/>
            <a:ext cx="256032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A4B3C9"/>
                </a:solidFill>
                <a:latin typeface="Aptos"/>
              </a:rPr>
              <a:t>INSERT SCREENSHOT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084064"/>
            <a:ext cx="4663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3C9"/>
                </a:solidFill>
                <a:latin typeface="Aptos"/>
              </a:rPr>
              <a:t>Upload or select a hand-drawn layout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965960"/>
            <a:ext cx="5230368" cy="3520440"/>
          </a:xfrm>
          <a:prstGeom prst="roundRect">
            <a:avLst>
              <a:gd name="adj" fmla="val 12000"/>
            </a:avLst>
          </a:prstGeom>
          <a:solidFill>
            <a:srgbClr val="131D31"/>
          </a:solidFill>
          <a:ln w="1397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7376" y="2176272"/>
            <a:ext cx="475488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EB"/>
                </a:solidFill>
                <a:latin typeface="Aptos"/>
              </a:rPr>
              <a:t>02  /  GENERATED PREVIEW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37376" y="2615184"/>
            <a:ext cx="4828032" cy="2331720"/>
          </a:xfrm>
          <a:prstGeom prst="rect">
            <a:avLst/>
          </a:prstGeom>
          <a:solidFill>
            <a:srgbClr val="0D1524"/>
          </a:solidFill>
          <a:ln w="12700">
            <a:solidFill>
              <a:srgbClr val="47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8247888" y="3429000"/>
            <a:ext cx="1207008" cy="0"/>
          </a:xfrm>
          <a:prstGeom prst="line">
            <a:avLst/>
          </a:prstGeom>
          <a:ln w="1270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851392" y="2834640"/>
            <a:ext cx="0" cy="1207008"/>
          </a:xfrm>
          <a:prstGeom prst="line">
            <a:avLst/>
          </a:prstGeom>
          <a:ln w="1270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562088" y="3493008"/>
            <a:ext cx="256032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A4B3C9"/>
                </a:solidFill>
                <a:latin typeface="Aptos"/>
              </a:rPr>
              <a:t>INSERT SCREENSHOT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5084064"/>
            <a:ext cx="466344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3C9"/>
                </a:solidFill>
                <a:latin typeface="Aptos"/>
              </a:rPr>
              <a:t>View the rendered result in the browser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4864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D3EB"/>
                </a:solidFill>
                <a:latin typeface="Aptos"/>
              </a:rPr>
              <a:t>04 / 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1F5F9"/>
                </a:solidFill>
                <a:latin typeface="Aptos"/>
              </a:rPr>
              <a:t>Same idea. Two representations.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7899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4B3C9"/>
                </a:solidFill>
                <a:latin typeface="Aptos"/>
              </a:rPr>
              <a:t>Show the sketch first, then switch to the generated browser preview.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4B3C9"/>
                </a:solidFill>
                <a:latin typeface="Aptos"/>
              </a:rPr>
              <a:t>ROBOUI  /  HACKATHON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114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4B3C9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20240"/>
            <a:ext cx="5138928" cy="3520440"/>
          </a:xfrm>
          <a:prstGeom prst="roundRect">
            <a:avLst>
              <a:gd name="adj" fmla="val 12000"/>
            </a:avLst>
          </a:prstGeom>
          <a:solidFill>
            <a:srgbClr val="131D31"/>
          </a:solidFill>
          <a:ln w="1397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91072" y="1920240"/>
            <a:ext cx="5138928" cy="3520440"/>
          </a:xfrm>
          <a:prstGeom prst="roundRect">
            <a:avLst>
              <a:gd name="adj" fmla="val 12000"/>
            </a:avLst>
          </a:prstGeom>
          <a:solidFill>
            <a:srgbClr val="131D31"/>
          </a:solidFill>
          <a:ln w="1397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2157984"/>
            <a:ext cx="448056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EB"/>
                </a:solidFill>
                <a:latin typeface="Aptos"/>
              </a:rPr>
              <a:t>INPUT  /  HAND-DRAWN SKETCH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2157984"/>
            <a:ext cx="448056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BDCAA"/>
                </a:solidFill>
                <a:latin typeface="Aptos"/>
              </a:rPr>
              <a:t>OUTPUT  /  HTML PREVIEW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" y="2615184"/>
            <a:ext cx="4553712" cy="2304288"/>
          </a:xfrm>
          <a:prstGeom prst="rect">
            <a:avLst/>
          </a:prstGeom>
          <a:solidFill>
            <a:srgbClr val="0D1524"/>
          </a:solidFill>
          <a:ln w="13970">
            <a:solidFill>
              <a:srgbClr val="47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16152" y="3566160"/>
            <a:ext cx="4096512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A4B3C9"/>
                </a:solidFill>
                <a:latin typeface="Aptos"/>
              </a:rPr>
              <a:t>DROP DEMO IMAGE / SCREENSHOT HERE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8816" y="2615184"/>
            <a:ext cx="4553712" cy="2304288"/>
          </a:xfrm>
          <a:prstGeom prst="rect">
            <a:avLst/>
          </a:prstGeom>
          <a:solidFill>
            <a:srgbClr val="0D1524"/>
          </a:solidFill>
          <a:ln w="13970">
            <a:solidFill>
              <a:srgbClr val="47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57416" y="3566160"/>
            <a:ext cx="4096512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A4B3C9"/>
                </a:solidFill>
                <a:latin typeface="Aptos"/>
              </a:rPr>
              <a:t>DROP DEMO IMAGE / SCREENSHOT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669280"/>
            <a:ext cx="150876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D3EB"/>
                </a:solidFill>
                <a:latin typeface="Aptos"/>
              </a:rPr>
              <a:t>DEMO TALK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85416" y="5643975"/>
            <a:ext cx="8686800" cy="32918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F1F5F9"/>
                </a:solidFill>
                <a:latin typeface="Aptos"/>
              </a:rPr>
              <a:t>1. Upload the sketch   →   2. Run generation   →   3. Open localhost preview   →   4. Compare layout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4864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D3EB"/>
                </a:solidFill>
                <a:latin typeface="Aptos"/>
              </a:rPr>
              <a:t>05 / ENGINEERING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dirty="0">
                <a:solidFill>
                  <a:srgbClr val="F1F5F9"/>
                </a:solidFill>
                <a:latin typeface="Aptos"/>
              </a:rPr>
              <a:t>What works today — and 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7899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4B3C9"/>
                </a:solidFill>
                <a:latin typeface="Aptos"/>
              </a:rPr>
              <a:t>Be clear about the prototype's current scope while showing a credible path forward.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473952"/>
            <a:ext cx="10945368" cy="0"/>
          </a:xfrm>
          <a:prstGeom prst="line">
            <a:avLst/>
          </a:prstGeom>
          <a:ln w="1016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50292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dirty="0">
                <a:solidFill>
                  <a:srgbClr val="A4B3C9"/>
                </a:solidFill>
                <a:latin typeface="Aptos"/>
              </a:rPr>
              <a:t>ROBOUI  /  HACKATHON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114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4B3C9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65960"/>
            <a:ext cx="5138928" cy="3429000"/>
          </a:xfrm>
          <a:prstGeom prst="roundRect">
            <a:avLst>
              <a:gd name="adj" fmla="val 12000"/>
            </a:avLst>
          </a:prstGeom>
          <a:solidFill>
            <a:srgbClr val="131D31"/>
          </a:solidFill>
          <a:ln w="1397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91072" y="1965960"/>
            <a:ext cx="5138928" cy="3429000"/>
          </a:xfrm>
          <a:prstGeom prst="roundRect">
            <a:avLst>
              <a:gd name="adj" fmla="val 12000"/>
            </a:avLst>
          </a:prstGeom>
          <a:solidFill>
            <a:srgbClr val="131D31"/>
          </a:solidFill>
          <a:ln w="1397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267712"/>
            <a:ext cx="448056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BDCAA"/>
                </a:solidFill>
                <a:latin typeface="Aptos"/>
              </a:rPr>
              <a:t>WORKING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852928"/>
            <a:ext cx="4480560" cy="2011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300"/>
              </a:spcAft>
              <a:defRPr sz="1500" b="0">
                <a:solidFill>
                  <a:srgbClr val="F1F5F9"/>
                </a:solidFill>
                <a:latin typeface="Aptos"/>
              </a:defRPr>
            </a:pPr>
            <a:r>
              <a:t>✓  Accepts a hand-drawn layout as input</a:t>
            </a:r>
          </a:p>
          <a:p>
            <a:pPr>
              <a:spcAft>
                <a:spcPts val="1300"/>
              </a:spcAft>
              <a:defRPr sz="1500" b="0">
                <a:solidFill>
                  <a:srgbClr val="F1F5F9"/>
                </a:solidFill>
                <a:latin typeface="Aptos"/>
              </a:defRPr>
            </a:pPr>
            <a:r>
              <a:t>✓  Uses an AI model to interpret the sketch</a:t>
            </a:r>
          </a:p>
          <a:p>
            <a:pPr>
              <a:spcAft>
                <a:spcPts val="1300"/>
              </a:spcAft>
              <a:defRPr sz="1500" b="0">
                <a:solidFill>
                  <a:srgbClr val="F1F5F9"/>
                </a:solidFill>
                <a:latin typeface="Aptos"/>
              </a:defRPr>
            </a:pPr>
            <a:r>
              <a:t>✓  Generates a basic HTML wireframe</a:t>
            </a:r>
          </a:p>
          <a:p>
            <a:pPr>
              <a:spcAft>
                <a:spcPts val="1300"/>
              </a:spcAft>
              <a:defRPr sz="1500" b="0">
                <a:solidFill>
                  <a:srgbClr val="F1F5F9"/>
                </a:solidFill>
                <a:latin typeface="Aptos"/>
              </a:defRPr>
            </a:pPr>
            <a:r>
              <a:t>✓  Previews the result on localhost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267712"/>
            <a:ext cx="448056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B454"/>
                </a:solidFill>
                <a:latin typeface="Aptos"/>
              </a:rPr>
              <a:t>NEXT ITERATIONS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852928"/>
            <a:ext cx="4480560" cy="2011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300"/>
              </a:spcAft>
              <a:defRPr sz="1500" b="0">
                <a:solidFill>
                  <a:srgbClr val="F1F5F9"/>
                </a:solidFill>
                <a:latin typeface="Aptos"/>
              </a:defRPr>
            </a:pPr>
            <a:r>
              <a:t>→  Improve layout and component accuracy</a:t>
            </a:r>
          </a:p>
          <a:p>
            <a:pPr>
              <a:spcAft>
                <a:spcPts val="1300"/>
              </a:spcAft>
              <a:defRPr sz="1500" b="0">
                <a:solidFill>
                  <a:srgbClr val="F1F5F9"/>
                </a:solidFill>
                <a:latin typeface="Aptos"/>
              </a:defRPr>
            </a:pPr>
            <a:r>
              <a:t>→  Support richer UI elements and styling</a:t>
            </a:r>
          </a:p>
          <a:p>
            <a:pPr>
              <a:spcAft>
                <a:spcPts val="1300"/>
              </a:spcAft>
              <a:defRPr sz="1500" b="0">
                <a:solidFill>
                  <a:srgbClr val="F1F5F9"/>
                </a:solidFill>
                <a:latin typeface="Aptos"/>
              </a:defRPr>
            </a:pPr>
            <a:r>
              <a:t>→  Give users more control over generated output</a:t>
            </a:r>
          </a:p>
          <a:p>
            <a:pPr>
              <a:spcAft>
                <a:spcPts val="1300"/>
              </a:spcAft>
              <a:defRPr sz="1500" b="0">
                <a:solidFill>
                  <a:srgbClr val="F1F5F9"/>
                </a:solidFill>
                <a:latin typeface="Aptos"/>
              </a:defRPr>
            </a:pPr>
            <a:r>
              <a:t>→  Strengthen validation and error handling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5650992"/>
            <a:ext cx="10680192" cy="475488"/>
          </a:xfrm>
          <a:prstGeom prst="roundRect">
            <a:avLst>
              <a:gd name="adj" fmla="val 12000"/>
            </a:avLst>
          </a:prstGeom>
          <a:solidFill>
            <a:srgbClr val="18263E"/>
          </a:solidFill>
          <a:ln w="1397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5769864"/>
            <a:ext cx="1014984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4D3EB"/>
                </a:solidFill>
                <a:latin typeface="Aptos"/>
              </a:rPr>
              <a:t>ROBOUI  /  Turning visual ideas into a concrete starting point for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478</Words>
  <Application>Microsoft Macintosh PowerPoint</Application>
  <PresentationFormat>Widescreen</PresentationFormat>
  <Paragraphs>99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 Hubbard</cp:lastModifiedBy>
  <cp:revision>2</cp:revision>
  <dcterms:created xsi:type="dcterms:W3CDTF">2013-01-27T09:14:16Z</dcterms:created>
  <dcterms:modified xsi:type="dcterms:W3CDTF">2026-10-31T17:55:04Z</dcterms:modified>
  <cp:category/>
</cp:coreProperties>
</file>